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3" r:id="rId15"/>
    <p:sldId id="264" r:id="rId16"/>
    <p:sldId id="265" r:id="rId17"/>
    <p:sldId id="266" r:id="rId18"/>
    <p:sldId id="267" r:id="rId19"/>
    <p:sldId id="261" r:id="rId11"/>
    <p:sldId id="262" r:id="rId12"/>
  </p:sldIdLst>
  <p:sldSz cy="6858000" cx="12192000"/>
  <p:notesSz cx="6858000" cy="9144000"/>
  <p:embeddedFontLst>
    <p:embeddedFont>
      <p:font typeface="Outfit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Outfit-regular.fntdata"/><Relationship Id="rId14" Type="http://schemas.openxmlformats.org/officeDocument/2006/relationships/font" Target="fonts/Outfit-bold.fntdata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91200" y="4458592"/>
            <a:ext cx="609600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-285750" y="2361307"/>
            <a:ext cx="12763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CC15"/>
                </a:solidFill>
                <a:latin typeface="Outfit"/>
                <a:ea typeface="Outfit"/>
                <a:cs typeface="Outfit"/>
                <a:sym typeface="Outfit"/>
              </a:rPr>
              <a:t>CLUB AÉREO BANCOESTADO · DSY1105 · DUOC UC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-285750" y="2808982"/>
            <a:ext cx="1276350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AppVuelos CAPEBE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0000" y="3791842"/>
            <a:ext cx="860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Gestión digital de vuelos recreativos  ·  Álvaro Ramírez &amp; Fernando Reyes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7275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5858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1642169"/>
            <a:ext cx="6667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Outfit"/>
                <a:ea typeface="Outfit"/>
                <a:cs typeface="Outfit"/>
                <a:sym typeface="Outfit"/>
              </a:rPr>
              <a:t>LA ORGANIZACIÓN Y USUARIOS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1966019"/>
            <a:ext cx="5700712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Club Aéreo del Personal de BancoEstado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38250" y="344418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Quiénes son y qué hacen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38250" y="3806130"/>
            <a:ext cx="5114875" cy="56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Corporación sin fines de lucro fundada en 1968. Promueve la aviación recreativa y deportiva para socios y familias de BancoEstado.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23950" y="4330005"/>
            <a:ext cx="50338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Dónde operan y perfiles del caso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3950" y="4691955"/>
            <a:ext cx="5033812" cy="6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Bases en Santiago/Tobalaba y Concepción/Talcahuano (DGAC). Participan administrador, operador, pilotos y socio invitado (foco de nuestro MVP).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762000" y="3167062"/>
            <a:ext cx="3352800" cy="2028825"/>
          </a:xfrm>
          <a:prstGeom prst="roundRect">
            <a:avLst>
              <a:gd fmla="val 7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419600" y="3167062"/>
            <a:ext cx="3352800" cy="2028825"/>
          </a:xfrm>
          <a:prstGeom prst="roundRect">
            <a:avLst>
              <a:gd fmla="val 7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8077200" y="3167062"/>
            <a:ext cx="3352800" cy="2028825"/>
          </a:xfrm>
          <a:prstGeom prst="roundRect">
            <a:avLst>
              <a:gd fmla="val 7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5480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5480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35480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-285750" y="762000"/>
            <a:ext cx="1276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SITUACIÓN ACTUAL Y PROBLEMA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-285750" y="1085850"/>
            <a:ext cx="1276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Un proceso manual y desintegrado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43000" y="4157662"/>
            <a:ext cx="3400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Convocatoria por Correos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143000" y="4595812"/>
            <a:ext cx="3238500" cy="66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Invitaciones por correo y bloques horarios armados a mano en Excel, generando alta carga administrativa.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800600" y="4157662"/>
            <a:ext cx="3400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Embarque en Papel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800600" y="4595812"/>
            <a:ext cx="3238500" cy="66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Validación de socio, pesaje y firma de consentimiento en planillas impresas que retrasan la fila en la losa.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58200" y="4157662"/>
            <a:ext cx="34004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Datos Dispersos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58200" y="4595812"/>
            <a:ext cx="3238500" cy="66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Transcripción manual con riesgo de errores de digitación y dificultad para justificar fondos a Bienestar.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6096000" y="3989040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096000" y="4455765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096000" y="4922490"/>
            <a:ext cx="762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096000" y="1778347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NUESTRA SOLUCIÓN (MVP SOCIO)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096000" y="2102197"/>
            <a:ext cx="6096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Aplicación móvil para el socio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096000" y="2955577"/>
            <a:ext cx="5429250" cy="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Enfocada en el Socio Invitado para que autogestione su reserva desde el teléfono y cuente con herramientas de apoyo en terreno.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324600" y="3908077"/>
            <a:ext cx="51765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Registro y Login validados en ViewModel (SQLite).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24600" y="4374802"/>
            <a:ext cx="5548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Calendario de vuelos ficticios y Términos de uso.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24600" y="4841527"/>
            <a:ext cx="5581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Confirmación, Mis Vuelos Guardados y 4 recursos nativos.</a:t>
            </a:r>
            <a:endParaRPr/>
          </a:p>
        </p:txBody>
      </p:sp>
      <p:pic>
        <p:nvPicPr>
          <p:cNvPr id="134" name="Picture 133" descr="pantallas_capebe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562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/>
        </p:nvSpPr>
        <p:spPr>
          <a:xfrm>
            <a:off x="-285750" y="2033587"/>
            <a:ext cx="1276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El Flujo del Socio en nuestra App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1809750" y="3671887"/>
            <a:ext cx="85725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809750" y="3671887"/>
            <a:ext cx="476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616100" y="3367087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791051" y="3367087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8966001" y="3367087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2473225" y="3367087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1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37414" y="4205287"/>
            <a:ext cx="41671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Registro y Acceso Offline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127131" y="4605337"/>
            <a:ext cx="3587687" cy="56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Crea su cuenta validada y accede sin internet con Room/SQLite.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648176" y="3367087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2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012364" y="4205287"/>
            <a:ext cx="41671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Elección y Términos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302081" y="4605337"/>
            <a:ext cx="3587687" cy="56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Elige un vuelo en Tobalaba o Talcahuano y acepta los Términos.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823126" y="3367087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3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187314" y="4205287"/>
            <a:ext cx="41671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Mis Vuelos y Losa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477031" y="4605337"/>
            <a:ext cx="3587687" cy="56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Revisa Mis Vuelos Guardados y usa Linterna, Vibración, Batería y Brújula.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0633" y="0"/>
            <a:ext cx="47413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0633" y="0"/>
            <a:ext cx="47413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146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5816" y="27146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1338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15816" y="41338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62000" y="1685925"/>
            <a:ext cx="777870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Condiciones y Resultados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3171825"/>
            <a:ext cx="290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Cero Papel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62000" y="3533775"/>
            <a:ext cx="2900000" cy="5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Inscripción y aceptación de términos digital desde la app.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3915816" y="3171825"/>
            <a:ext cx="36393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Modo Sin Conexión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3915816" y="3533775"/>
            <a:ext cx="3466020" cy="5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Usuarios en SQLite local y 4 recursos nativos para sol y ruido.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4591050"/>
            <a:ext cx="290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Datos Protegidos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4953000"/>
            <a:ext cx="2900000" cy="5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Cumplimiento de Ley 19.628 con usuarios y vuelos ficticios.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3915816" y="4591050"/>
            <a:ext cx="36393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Autonomía en Losa</a:t>
            </a:r>
          </a:p>
        </p:txBody>
      </p:sp>
      <p:sp>
        <p:nvSpPr>
          <p:cNvPr id="172" name="Google Shape;172;p18"/>
          <p:cNvSpPr txBox="1"/>
          <p:nvPr/>
        </p:nvSpPr>
        <p:spPr>
          <a:xfrm>
            <a:off x="3915816" y="4953000"/>
            <a:ext cx="3466020" cy="5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r>
              <a:t>Gestión directa desde el móvil sin depender de intermediarios ni esperas en el hangar.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2328862"/>
            <a:ext cx="4572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3783210" y="3243262"/>
            <a:ext cx="462557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¿Preguntas?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3839765" y="4243387"/>
            <a:ext cx="45124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Muchas gracias · Pasamos a la demostración en vivo.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Outfit"/>
              </a:rPr>
              <a:t>EXPERIENCIA Y USABILIDAD · ARQUITECTURA DE FLUJO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Outfit"/>
              </a:rPr>
              <a:t>Recorrido Operacional del Socio en la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3364992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364992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Outfit"/>
              </a:rPr>
              <a:t>FASE 1: ACCESO SEGURO OFFLINE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" y="2286000"/>
            <a:ext cx="3035808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359152"/>
            <a:ext cx="2852928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Outfit"/>
              </a:rPr>
              <a:t>Paso 01: Registro de Usuario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Outfit"/>
              </a:rPr>
              <a:t>Validación estricta de RUT, correo y credenciales en tiempo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" y="4096512"/>
            <a:ext cx="3035808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4169664"/>
            <a:ext cx="2852928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Outfit"/>
              </a:rPr>
              <a:t>Paso 02: Inicio de Sesión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Outfit"/>
              </a:rPr>
              <a:t>Autenticación local persistente en SQLite (Room) sin depender de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645920"/>
            <a:ext cx="3364992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16552" y="1645920"/>
            <a:ext cx="3364992" cy="5029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Outfit"/>
              </a:rPr>
              <a:t>FASE 2: SELECCIÓN Y NORMATIVA DGAC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1144" y="2286000"/>
            <a:ext cx="303580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2359152"/>
            <a:ext cx="28529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Outfit"/>
              </a:rPr>
              <a:t>Paso 03: Panel del Socio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Outfit"/>
              </a:rPr>
              <a:t>Dashboard de bienvenida con saludo personalizado y accesos rápidos.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81144" y="3511296"/>
            <a:ext cx="303580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3584448"/>
            <a:ext cx="28529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Outfit"/>
              </a:rPr>
              <a:t>Paso 04: Catálogo de Vuelos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Outfit"/>
              </a:rPr>
              <a:t>Exploración de vuelos recreativos en Tobalaba y Talcahuano por fecha.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1144" y="4736592"/>
            <a:ext cx="303580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4809744"/>
            <a:ext cx="28529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Outfit"/>
              </a:rPr>
              <a:t>Paso 05: Aceptación de Normas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Outfit"/>
              </a:rPr>
              <a:t>Lectura y consentimiento digital de normativas de vuelo antes de reservar.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645920"/>
            <a:ext cx="3364992" cy="4434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55864" y="1645920"/>
            <a:ext cx="3364992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Outfit"/>
              </a:rPr>
              <a:t>FASE 3: CONFIRMACIÓN Y LOSA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0456" y="2286000"/>
            <a:ext cx="303580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359152"/>
            <a:ext cx="28529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Outfit"/>
              </a:rPr>
              <a:t>Paso 06: Confirmación de Vuelo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Outfit"/>
              </a:rPr>
              <a:t>Resumen operacional con fecha, aeronave y generación de ticket.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0456" y="3511296"/>
            <a:ext cx="303580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3584448"/>
            <a:ext cx="28529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Outfit"/>
              </a:rPr>
              <a:t>Paso 07: Mis Vuelos Guardados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Outfit"/>
              </a:rPr>
              <a:t>Consulta offline de pases para revisión del piloto en el aeródromo.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4736592"/>
            <a:ext cx="3035808" cy="1115568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4809744"/>
            <a:ext cx="28529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45309"/>
                </a:solidFill>
                <a:latin typeface="Outfit"/>
              </a:rPr>
              <a:t>Paso 08: Herramientas de Pista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78350F"/>
                </a:solidFill>
                <a:latin typeface="Outfit"/>
              </a:rPr>
              <a:t>Activación directa de Linterna, Brújula, Batería y Vibración en losa.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Outfit"/>
              </a:rPr>
              <a:t>ARQUITECTURA DE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Outfit"/>
              </a:rPr>
              <a:t>Arquitectura por Capas: Patrón MVVM en Android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1065276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29260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Outfit"/>
              </a:rPr>
              <a:t>1. CAPA DE PRESENTACIÓN (UI)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10287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Outfit"/>
              </a:rPr>
              <a:t>• ui/screen (Jetpack Compose): Login, Register, Principal, Calendario, Terminos, Confirmacion, MisVuelos, RecursosNativos
</a:t>
            </a:r>
          </a:p>
          <a:p>
            <a:r>
              <a:rPr sz="1000">
                <a:solidFill>
                  <a:srgbClr val="64748B"/>
                </a:solidFill>
                <a:latin typeface="Outfit"/>
              </a:rPr>
              <a:t>• ui/components (Header, Footer modulares)  |  ui/navigation (AppNavigation con NavHost central)  |  ui/theme (Material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3035808"/>
            <a:ext cx="699516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Outfit"/>
              </a:rPr>
              <a:t>↓ Eventos de Usuario (Clicks / Inputs)   |   ↑ Estado Reactivo en Pantalla (mutableStateOf)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64992"/>
            <a:ext cx="1065276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364992"/>
            <a:ext cx="29260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Outfit"/>
              </a:rPr>
              <a:t>2. CAPA DE LÓGICA Y ESTADOS (VIEWMODEL)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40"/>
            <a:ext cx="10287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Outfit"/>
              </a:rPr>
              <a:t>• LoginViewModel: Verificación asíncrona de credenciales  |  • RegisterViewModel: Validación de datos y alta de socios
</a:t>
            </a:r>
          </a:p>
          <a:p>
            <a:r>
              <a:rPr sz="1000">
                <a:solidFill>
                  <a:srgbClr val="64748B"/>
                </a:solidFill>
                <a:latin typeface="Outfit"/>
              </a:rPr>
              <a:t>• CalendarioViewModel: Filtro dinámico de vuelos en Tobalaba/Talcahuano  |  • mutableStateOf: Estado observable por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4709160"/>
            <a:ext cx="6995160" cy="256032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0B981"/>
                </a:solidFill>
                <a:latin typeface="Outfit"/>
              </a:rPr>
              <a:t>↓ Peticiones Asíncronas en Dispatchers.IO   |   ↑ Entidades y Respuestas del Sistema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5230368" cy="1188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29200"/>
            <a:ext cx="274320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Outfit"/>
              </a:rPr>
              <a:t>3A. PERSISTENCIA LOCAL (ROOM)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376672"/>
            <a:ext cx="49011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F172A"/>
                </a:solidFill>
                <a:latin typeface="Outfit"/>
              </a:rPr>
              <a:t>AppDatabase (Room Singleton)  ↔  UsuarioDao (CRUD)  ↔  UsuarioEntity (SQLite)
CalendarioModel: Catálogo de vuelos protegidos (Ley 19.628)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5029200"/>
            <a:ext cx="5230368" cy="11887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5029200"/>
            <a:ext cx="292608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Outfit"/>
              </a:rPr>
              <a:t>3B. HARDWARE Y SENSORES (LOSA)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5376672"/>
            <a:ext cx="490118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8350F"/>
                </a:solidFill>
                <a:latin typeface="Outfit"/>
              </a:rPr>
              <a:t>CameraManager (Linterna)  ·  SensorManager (Brújula Magnética)
BatteryManager (Nivel de Batería)  ·  Vibrator (Feedback Háptico)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Outfit"/>
              </a:rPr>
              <a:t>STACK TECNOLÓGICO · 20% RÚBRICA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Outfit"/>
              </a:rPr>
              <a:t>Tecnologías y Herramientas Utilizadas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3364992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336499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Outfit"/>
              </a:rPr>
              <a:t>Kotlin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563EB"/>
                </a:solidFill>
                <a:latin typeface="Outfit"/>
              </a:rPr>
              <a:t>Lenguaje Oficial de 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99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Outfit"/>
              </a:rPr>
              <a:t>Lenguaje moderno con tipado seguro y soporte nativo de corrutinas para todo el código de la aplicación.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91640"/>
            <a:ext cx="3364992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691640"/>
            <a:ext cx="336499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7452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Outfit"/>
              </a:rPr>
              <a:t>Jetpack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13432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0B981"/>
                </a:solidFill>
                <a:latin typeface="Outfit"/>
              </a:rPr>
              <a:t>Interfaz Declarativa Moderna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43200"/>
            <a:ext cx="2999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Outfit"/>
              </a:rPr>
              <a:t>Construcción de UI 100% en código Kotlin bajo Material Design 3, eliminando layouts XML tradicionales.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91640"/>
            <a:ext cx="3364992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691640"/>
            <a:ext cx="3364992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87452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Outfit"/>
              </a:rPr>
              <a:t>Navigation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313432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9333EA"/>
                </a:solidFill>
                <a:latin typeface="Outfit"/>
              </a:rPr>
              <a:t>Enrutamiento y Grafo de Pantallas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743200"/>
            <a:ext cx="2999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Outfit"/>
              </a:rPr>
              <a:t>Gestión centralizada del flujo entre pantallas y paso seguro de parámetros entre vistas.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23360"/>
            <a:ext cx="3364992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23360"/>
            <a:ext cx="336499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0624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Outfit"/>
              </a:rPr>
              <a:t>Room +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45152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9488"/>
                </a:solidFill>
                <a:latin typeface="Outfit"/>
              </a:rPr>
              <a:t>Persistencia Local Offline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74920"/>
            <a:ext cx="2999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Outfit"/>
              </a:rPr>
              <a:t>Capa de base de datos local con Entity, DAO y AppDatabase para almacenar socios sin conexión.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4023360"/>
            <a:ext cx="3364992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6552" y="4023360"/>
            <a:ext cx="336499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420624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Outfit"/>
              </a:rPr>
              <a:t>Android Hardware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645152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9E0B"/>
                </a:solidFill>
                <a:latin typeface="Outfit"/>
              </a:rPr>
              <a:t>Sensores y Recursos Nativos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5074920"/>
            <a:ext cx="2999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Outfit"/>
              </a:rPr>
              <a:t>Integración directa de CameraManager, Vibrator, BatteryManager y SensorManager para la operación en pista.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5864" y="4023360"/>
            <a:ext cx="3364992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55864" y="4023360"/>
            <a:ext cx="3364992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4206240"/>
            <a:ext cx="2999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Outfit"/>
              </a:rPr>
              <a:t>Compose State &amp; Corrutinas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4645152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11D48"/>
                </a:solidFill>
                <a:latin typeface="Outfit"/>
              </a:rPr>
              <a:t>Gestión de Estado y Concurrencia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5074920"/>
            <a:ext cx="2999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Outfit"/>
              </a:rPr>
              <a:t>Uso de mutableStateOf para reactividad visual y viewModelScope para tareas asíncronas sin congelar la app.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Outfit"/>
              </a:rPr>
              <a:t>HARDWARE NATIVO Y TERRENO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Outfit"/>
              </a:rPr>
              <a:t>Recursos Nativos del Dispositivo en la Losa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Outfit"/>
              </a:rPr>
              <a:t>Linterna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Outfit"/>
              </a:rPr>
              <a:t>Iluminación de Apoyo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Outfit"/>
              </a:rPr>
              <a:t>Permite activar el flash de la cámara directamente desde la app para inspeccionar credenciales, bitácoras o documentos en zonas de sombra o hangares al anochecer.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645920"/>
            <a:ext cx="24688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1965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Outfit"/>
              </a:rPr>
              <a:t>Vibración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Outfit"/>
              </a:rPr>
              <a:t>Feedback Háptico en Pista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306324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Outfit"/>
              </a:rPr>
              <a:t>Emite una vibración de 500 ms acompañada de una animación visual en la tarjeta. Esencial para confirmar acciones ante el alto ruido de motores de avión.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64592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965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Outfit"/>
              </a:rPr>
              <a:t>Batería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Outfit"/>
              </a:rPr>
              <a:t>Monitoreo de Energía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06324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Outfit"/>
              </a:rPr>
              <a:t>Lee el porcentaje de carga en tiempo real para alertar al socio u operador antes de salir a la pista sin puntos de carga disponibles.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1645920"/>
            <a:ext cx="2468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1965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Outfit"/>
              </a:rPr>
              <a:t>Brújula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514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Outfit"/>
              </a:rPr>
              <a:t>Rumbo Magnético en Losa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306324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Outfit"/>
              </a:rPr>
              <a:t>Utiliza el sensor de orientación del dispositivo para mostrar grados exactos y puntos cardinales (N, S, E, O) de apoyo para el rumbo de las aeronaves.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33EA"/>
                </a:solidFill>
                <a:latin typeface="Outfit"/>
              </a:rPr>
              <a:t>GESTIÓN DE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Outfit"/>
              </a:rPr>
              <a:t>Trabajo Colaborativo: Repositorio Git y Tablero Trello</a:t>
            </a:r>
          </a:p>
        </p:txBody>
      </p:sp>
      <p:pic>
        <p:nvPicPr>
          <p:cNvPr id="4" name="Picture 3" descr="trello_cape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539496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645920"/>
            <a:ext cx="493776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5564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Outfit"/>
              </a:rPr>
              <a:t>Tablero Kanban en Trello</a:t>
            </a:r>
          </a:p>
          <a:p>
            <a:r>
              <a:rPr sz="1150">
                <a:solidFill>
                  <a:srgbClr val="64748B"/>
                </a:solidFill>
                <a:latin typeface="Outfit"/>
              </a:rPr>
              <a:t>Organización transparente con 13 tareas colaborativas distribuidas entre el equipo de desarrollo en columnas Por hacer, En curso y Finalizado.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916936"/>
            <a:ext cx="493776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026664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Outfit"/>
              </a:rPr>
              <a:t>Control de Versiones en GitHub</a:t>
            </a:r>
          </a:p>
          <a:p>
            <a:r>
              <a:rPr sz="1150">
                <a:solidFill>
                  <a:srgbClr val="64748B"/>
                </a:solidFill>
                <a:latin typeface="Outfit"/>
              </a:rPr>
              <a:t>Flujo colaborativo en equipo con ramas de trabajo independientes, commits descriptivos continuos y Pull Requests revisados en conjunto.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87952"/>
            <a:ext cx="493776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2976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Outfit"/>
              </a:rPr>
              <a:t>Arquitectura MVVM Limpia</a:t>
            </a:r>
          </a:p>
          <a:p>
            <a:r>
              <a:rPr sz="1150">
                <a:solidFill>
                  <a:srgbClr val="64748B"/>
                </a:solidFill>
                <a:latin typeface="Outfit"/>
              </a:rPr>
              <a:t>Separación modular de responsabilidades (data, model, screen, viewModel, navigation y components) garantizando un código robusto y escalable.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